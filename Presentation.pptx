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14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61688"/>
            <a:ext cx="12188952" cy="54864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Chicago Crime Dataset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D6E4F7"/>
                </a:solidFill>
              </a:rPr>
              <a:t>Data Mining Final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063240"/>
            <a:ext cx="3959352" cy="45720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6E4F7"/>
                </a:solidFill>
              </a:rPr>
              <a:t>Preprocessing  ·  Data Integration  ·  Cluster Analysis  · 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17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Sama Gannurdinov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4F7"/>
                </a:solidFill>
              </a:rPr>
              <a:t>Data Mining  · 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D6E4F7"/>
                </a:solidFill>
              </a:rPr>
              <a:t>github.com/samagannurdinov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869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What was added since the Midterm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Sama Gannurdinov  |  Data Mining Final Project  | 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5349240" cy="53492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5349240" cy="384048"/>
          </a:xfrm>
          <a:prstGeom prst="rect">
            <a:avLst/>
          </a:prstGeom>
          <a:solidFill>
            <a:srgbClr val="4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155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Midterm  (completed)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2"/>
              </a:spcAft>
            </a:pPr>
            <a:r>
              <a:rPr sz="1300" b="0">
                <a:solidFill>
                  <a:srgbClr val="1A1A2E"/>
                </a:solidFill>
              </a:rPr>
              <a:t>•  Data Cleaning  — 99.4% records retained</a:t>
            </a:r>
          </a:p>
          <a:p>
            <a:pPr>
              <a:spcAft>
                <a:spcPts val="472"/>
              </a:spcAft>
            </a:pPr>
            <a:r>
              <a:rPr sz="1300" b="0">
                <a:solidFill>
                  <a:srgbClr val="1A1A2E"/>
                </a:solidFill>
              </a:rPr>
              <a:t>•  Attribute Subset Selection  — 7 columns removed</a:t>
            </a:r>
          </a:p>
          <a:p>
            <a:pPr>
              <a:spcAft>
                <a:spcPts val="472"/>
              </a:spcAft>
            </a:pPr>
            <a:r>
              <a:rPr sz="1300" b="0">
                <a:solidFill>
                  <a:srgbClr val="1A1A2E"/>
                </a:solidFill>
              </a:rPr>
              <a:t>•  PCA  — 84.21% variance in 2 components</a:t>
            </a:r>
          </a:p>
          <a:p>
            <a:pPr>
              <a:spcAft>
                <a:spcPts val="472"/>
              </a:spcAft>
            </a:pPr>
            <a:r>
              <a:rPr sz="1300" b="0">
                <a:solidFill>
                  <a:srgbClr val="1A1A2E"/>
                </a:solidFill>
              </a:rPr>
              <a:t>•  Min-Max &amp; Z-Score Normalization</a:t>
            </a:r>
          </a:p>
          <a:p>
            <a:pPr>
              <a:spcAft>
                <a:spcPts val="472"/>
              </a:spcAft>
            </a:pPr>
            <a:r>
              <a:rPr sz="1300" b="0">
                <a:solidFill>
                  <a:srgbClr val="1A1A2E"/>
                </a:solidFill>
              </a:rPr>
              <a:t>•  Equal-Width Binning (time periods)</a:t>
            </a:r>
          </a:p>
          <a:p>
            <a:pPr>
              <a:spcAft>
                <a:spcPts val="472"/>
              </a:spcAft>
            </a:pPr>
            <a:r>
              <a:rPr sz="1300" b="0">
                <a:solidFill>
                  <a:srgbClr val="1A1A2E"/>
                </a:solidFill>
              </a:rPr>
              <a:t>•  Concept Hierarchy (77 areas → 4 sectors)</a:t>
            </a:r>
          </a:p>
          <a:p>
            <a:pPr>
              <a:spcAft>
                <a:spcPts val="472"/>
              </a:spcAft>
            </a:pPr>
            <a:r>
              <a:rPr sz="1300" b="0">
                <a:solidFill>
                  <a:srgbClr val="1A1A2E"/>
                </a:solidFill>
              </a:rPr>
              <a:t>•  Binary Discretization (indoor / outdoor)</a:t>
            </a:r>
          </a:p>
          <a:p>
            <a:pPr>
              <a:spcAft>
                <a:spcPts val="472"/>
              </a:spcAft>
            </a:pPr>
            <a:r>
              <a:rPr sz="1300" b="0">
                <a:solidFill>
                  <a:srgbClr val="1A1A2E"/>
                </a:solidFill>
              </a:rPr>
              <a:t>•  Basic K-Means Clustering  (Lat / Long only)</a:t>
            </a:r>
          </a:p>
          <a:p>
            <a:pPr>
              <a:spcAft>
                <a:spcPts val="472"/>
              </a:spcAft>
            </a:pPr>
            <a:r>
              <a:rPr sz="1300" b="0">
                <a:solidFill>
                  <a:srgbClr val="1A1A2E"/>
                </a:solidFill>
              </a:rPr>
              <a:t>•  Interactive D3.js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097280"/>
            <a:ext cx="5349240" cy="53492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097280"/>
            <a:ext cx="5349240" cy="384048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1155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Final  (new progress)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572768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2"/>
              </a:spcAft>
            </a:pPr>
            <a:r>
              <a:rPr sz="1300" b="0">
                <a:solidFill>
                  <a:srgbClr val="1A1A2E"/>
                </a:solidFill>
              </a:rPr>
              <a:t>•  Data Integration  — 2020 Census demographics merged for all 77 community areas</a:t>
            </a:r>
          </a:p>
          <a:p>
            <a:pPr>
              <a:spcAft>
                <a:spcPts val="472"/>
              </a:spcAft>
            </a:pPr>
            <a:r>
              <a:rPr sz="1300" b="0">
                <a:solidFill>
                  <a:srgbClr val="1A1A2E"/>
                </a:solidFill>
              </a:rPr>
              <a:t>•  Per-capita crime rates computed by neighborhood</a:t>
            </a:r>
          </a:p>
          <a:p>
            <a:pPr>
              <a:spcAft>
                <a:spcPts val="472"/>
              </a:spcAft>
            </a:pPr>
            <a:r>
              <a:rPr sz="1300" b="0">
                <a:solidFill>
                  <a:srgbClr val="1A1A2E"/>
                </a:solidFill>
              </a:rPr>
              <a:t>•  Enhanced Clustering  — Elbow Method validates K=10</a:t>
            </a:r>
          </a:p>
          <a:p>
            <a:pPr>
              <a:spcAft>
                <a:spcPts val="472"/>
              </a:spcAft>
            </a:pPr>
            <a:r>
              <a:rPr sz="1300" b="0">
                <a:solidFill>
                  <a:srgbClr val="1A1A2E"/>
                </a:solidFill>
              </a:rPr>
              <a:t>•  4-feature K-Means (location + time + environment)</a:t>
            </a:r>
          </a:p>
          <a:p>
            <a:pPr>
              <a:spcAft>
                <a:spcPts val="472"/>
              </a:spcAft>
            </a:pPr>
            <a:r>
              <a:rPr sz="1300" b="0">
                <a:solidFill>
                  <a:srgbClr val="1A1A2E"/>
                </a:solidFill>
              </a:rPr>
              <a:t>•  Cluster profiling  — arrest rate &amp; avg hour per cluster</a:t>
            </a:r>
          </a:p>
          <a:p>
            <a:pPr>
              <a:spcAft>
                <a:spcPts val="472"/>
              </a:spcAft>
            </a:pPr>
            <a:r>
              <a:rPr sz="1300" b="0">
                <a:solidFill>
                  <a:srgbClr val="1A1A2E"/>
                </a:solidFill>
              </a:rPr>
              <a:t>•  Classification Model  — Random Forest (arrest prediction)</a:t>
            </a:r>
          </a:p>
          <a:p>
            <a:pPr>
              <a:spcAft>
                <a:spcPts val="472"/>
              </a:spcAft>
            </a:pPr>
            <a:r>
              <a:rPr sz="1300" b="0">
                <a:solidFill>
                  <a:srgbClr val="1A1A2E"/>
                </a:solidFill>
              </a:rPr>
              <a:t>•  84.3% accuracy  ·  ROC-AUC 0.8154</a:t>
            </a:r>
          </a:p>
          <a:p>
            <a:pPr>
              <a:spcAft>
                <a:spcPts val="472"/>
              </a:spcAft>
            </a:pPr>
            <a:r>
              <a:rPr sz="1300" b="0">
                <a:solidFill>
                  <a:srgbClr val="1A1A2E"/>
                </a:solidFill>
              </a:rPr>
              <a:t>•  Feature Importance analysis</a:t>
            </a:r>
          </a:p>
          <a:p>
            <a:pPr>
              <a:spcAft>
                <a:spcPts val="472"/>
              </a:spcAft>
            </a:pPr>
            <a:r>
              <a:rPr sz="1300" b="0">
                <a:solidFill>
                  <a:srgbClr val="1A1A2E"/>
                </a:solidFill>
              </a:rPr>
              <a:t>•  8-section Final PDF Report with 10 charts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869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City of Chicago Open Data Portal — 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Sama Gannurdinov  |  Data Mining Final Project  | 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560320" cy="10515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2560320" cy="54864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61872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50A2"/>
                </a:solidFill>
              </a:rPr>
              <a:t>259,032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55648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Raw Records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79" y="1188720"/>
            <a:ext cx="2560320" cy="10515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54679" y="1188720"/>
            <a:ext cx="2560320" cy="54864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261872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50A2"/>
                </a:solidFill>
              </a:rPr>
              <a:t>257,547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755648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After Cleaning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188720"/>
            <a:ext cx="2560320" cy="10515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188720"/>
            <a:ext cx="2560320" cy="54864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261872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50A2"/>
                </a:solidFill>
              </a:rPr>
              <a:t>99.4%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755648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Retention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514600"/>
            <a:ext cx="2560320" cy="10515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514600"/>
            <a:ext cx="2560320" cy="54864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587752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50A2"/>
                </a:solidFill>
              </a:rPr>
              <a:t>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81528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Original Features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79" y="2514600"/>
            <a:ext cx="2560320" cy="10515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54679" y="2514600"/>
            <a:ext cx="2560320" cy="54864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2587752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50A2"/>
                </a:solidFill>
              </a:rPr>
              <a:t>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3081528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Engineered Cols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514600"/>
            <a:ext cx="2560320" cy="10515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2514600"/>
            <a:ext cx="2560320" cy="54864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2587752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50A2"/>
                </a:solidFill>
              </a:rPr>
              <a:t>77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3081528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Community Areas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50A2"/>
                </a:solidFill>
              </a:rPr>
              <a:t>Top 5 Crime Types (2024)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251960"/>
            <a:ext cx="3063240" cy="329184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" y="4270248"/>
            <a:ext cx="2999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Crime Type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4251960"/>
            <a:ext cx="1051560" cy="329184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38727" y="4270248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4251960"/>
            <a:ext cx="868680" cy="329184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36008" y="4270248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617720"/>
            <a:ext cx="3063240" cy="31089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" y="4636008"/>
            <a:ext cx="2999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Theft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0" y="4617720"/>
            <a:ext cx="1051560" cy="31089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38727" y="4636008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60,298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4617720"/>
            <a:ext cx="868680" cy="31089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36008" y="4636008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23.4%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946904"/>
            <a:ext cx="30632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" y="4965192"/>
            <a:ext cx="2999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Battery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0" y="4946904"/>
            <a:ext cx="10515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38727" y="4965192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45,953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4946904"/>
            <a:ext cx="8686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36008" y="496519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17.8%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276088"/>
            <a:ext cx="3063240" cy="31089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" y="5294376"/>
            <a:ext cx="2999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Criminal Damage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74720" y="5276088"/>
            <a:ext cx="1051560" cy="31089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38727" y="5294376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28,449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0" y="5276088"/>
            <a:ext cx="868680" cy="31089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36008" y="5294376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11.0%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605272"/>
            <a:ext cx="30632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8" y="5623560"/>
            <a:ext cx="2999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Assault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74720" y="5605272"/>
            <a:ext cx="10515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38727" y="5623560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23,380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5605272"/>
            <a:ext cx="8686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36008" y="562356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9.1%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5934456"/>
            <a:ext cx="3063240" cy="31089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9768" y="5952744"/>
            <a:ext cx="2999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Motor Vehicle Theft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474720" y="5934456"/>
            <a:ext cx="1051560" cy="31089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38727" y="5952744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21,642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0" y="5934456"/>
            <a:ext cx="868680" cy="31089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36008" y="5952744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8.4%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60720" y="384048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Theft alone accounts for nearly 1 in 4 reported incidents across the city.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 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869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9 techniques applied before any modeling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Sama Gannurdinov  |  Data Mining Final Project  | 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78992"/>
            <a:ext cx="3840480" cy="1600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78992"/>
            <a:ext cx="3840480" cy="73152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1887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50A2"/>
                </a:solidFill>
              </a:rPr>
              <a:t>Data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1554480"/>
            <a:ext cx="3611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Dropped 1,486 rows with missing coordinates; filled Location Description gaps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5384" y="1078992"/>
            <a:ext cx="3840480" cy="1600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15384" y="1078992"/>
            <a:ext cx="3840480" cy="73152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11887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50A2"/>
                </a:solidFill>
              </a:rPr>
              <a:t>Attribute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1554480"/>
            <a:ext cx="3611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Removed 7 irrelevant ID columns (IUCR, FBI Code, Case Number…)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02168" y="1078992"/>
            <a:ext cx="3840480" cy="1600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02168" y="1078992"/>
            <a:ext cx="3840480" cy="73152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11887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50A2"/>
                </a:solidFill>
              </a:rPr>
              <a:t>PCA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1554480"/>
            <a:ext cx="3611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4 spatial features → 2 principal components retaining 84.21% variance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816352"/>
            <a:ext cx="3840480" cy="1600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2816352"/>
            <a:ext cx="3840480" cy="73152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50A2"/>
                </a:solidFill>
              </a:rPr>
              <a:t>Min-Max Normalization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" y="3291840"/>
            <a:ext cx="3611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Lat / Long scaled to [0,1] — required for K-Means distance calculation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15384" y="2816352"/>
            <a:ext cx="3840480" cy="1600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15384" y="2816352"/>
            <a:ext cx="3840480" cy="73152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25112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50A2"/>
                </a:solidFill>
              </a:rPr>
              <a:t>Z-Score Normalization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5112" y="3291840"/>
            <a:ext cx="3611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District / Ward standardized — required for PCA (mean=0, std=1)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02168" y="2816352"/>
            <a:ext cx="3840480" cy="1600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02168" y="2816352"/>
            <a:ext cx="3840480" cy="73152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896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50A2"/>
                </a:solidFill>
              </a:rPr>
              <a:t>Feature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3291840"/>
            <a:ext cx="3611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Extracted Hour, Month, Day_of_Week from raw timestamp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4553712"/>
            <a:ext cx="3840480" cy="1600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553712"/>
            <a:ext cx="3840480" cy="73152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50A2"/>
                </a:solidFill>
              </a:rPr>
              <a:t>Equal-Width Binning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" y="5029200"/>
            <a:ext cx="3611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24 hour values → 4 time periods: Late Night / Morning / Afternoon / Evening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15384" y="4553712"/>
            <a:ext cx="3840480" cy="1600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15384" y="4553712"/>
            <a:ext cx="3840480" cy="73152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25112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50A2"/>
                </a:solidFill>
              </a:rPr>
              <a:t>Concept Hierarchy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25112" y="5029200"/>
            <a:ext cx="3611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77 Community Areas → 4 City Sectors (North Side, Central/West, South, Far South)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02168" y="4553712"/>
            <a:ext cx="3840480" cy="1600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02168" y="4553712"/>
            <a:ext cx="3840480" cy="73152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11896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50A2"/>
                </a:solidFill>
              </a:rPr>
              <a:t>Binary Discretization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1896" y="5029200"/>
            <a:ext cx="3611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Dozens of location types → Is_Outdoor flag (1 = outdoor, 0 = indoor)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 Reduction — PCA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869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Compressing 4 correlated spatial features into 2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Sama Gannurdinov  |  Data Mining Final Project  | 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50A2"/>
                </a:solidFill>
              </a:rPr>
              <a:t>Why PCA?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44"/>
              </a:spcAft>
            </a:pPr>
            <a:r>
              <a:rPr sz="1300" b="1">
                <a:solidFill>
                  <a:srgbClr val="1E50A2"/>
                </a:solidFill>
              </a:rPr>
              <a:t>•  District vs Ward correlation: </a:t>
            </a:r>
            <a:r>
              <a:rPr sz="1300" b="0">
                <a:solidFill>
                  <a:srgbClr val="1A1A2E"/>
                </a:solidFill>
              </a:rPr>
              <a:t>r = 0.653  — they carry overlapping information</a:t>
            </a:r>
          </a:p>
          <a:p>
            <a:pPr>
              <a:spcAft>
                <a:spcPts val="944"/>
              </a:spcAft>
            </a:pPr>
            <a:r>
              <a:rPr sz="1300" b="1">
                <a:solidFill>
                  <a:srgbClr val="1E50A2"/>
                </a:solidFill>
              </a:rPr>
              <a:t>•  PC1 captures: </a:t>
            </a:r>
            <a:r>
              <a:rPr sz="1300" b="0">
                <a:solidFill>
                  <a:srgbClr val="1A1A2E"/>
                </a:solidFill>
              </a:rPr>
              <a:t>69.75% of variance  (north-south city axis)</a:t>
            </a:r>
          </a:p>
          <a:p>
            <a:pPr>
              <a:spcAft>
                <a:spcPts val="944"/>
              </a:spcAft>
            </a:pPr>
            <a:r>
              <a:rPr sz="1300" b="1">
                <a:solidFill>
                  <a:srgbClr val="1E50A2"/>
                </a:solidFill>
              </a:rPr>
              <a:t>•  PC2 captures: </a:t>
            </a:r>
            <a:r>
              <a:rPr sz="1300" b="0">
                <a:solidFill>
                  <a:srgbClr val="1A1A2E"/>
                </a:solidFill>
              </a:rPr>
              <a:t>14.46% of variance  (east-west spread)</a:t>
            </a:r>
          </a:p>
          <a:p>
            <a:pPr>
              <a:spcAft>
                <a:spcPts val="944"/>
              </a:spcAft>
            </a:pPr>
            <a:r>
              <a:rPr sz="1300" b="1">
                <a:solidFill>
                  <a:srgbClr val="1E50A2"/>
                </a:solidFill>
              </a:rPr>
              <a:t>•  Total retained: </a:t>
            </a:r>
            <a:r>
              <a:rPr sz="1300" b="0">
                <a:solidFill>
                  <a:srgbClr val="1A1A2E"/>
                </a:solidFill>
              </a:rPr>
              <a:t>84.21% of spatial information in just 2 dimensions</a:t>
            </a:r>
          </a:p>
          <a:p>
            <a:pPr>
              <a:spcAft>
                <a:spcPts val="944"/>
              </a:spcAft>
            </a:pPr>
            <a:r>
              <a:rPr sz="1300" b="1">
                <a:solidFill>
                  <a:srgbClr val="1E50A2"/>
                </a:solidFill>
              </a:rPr>
              <a:t>•  Pre-processing: </a:t>
            </a:r>
            <a:r>
              <a:rPr sz="1300" b="0">
                <a:solidFill>
                  <a:srgbClr val="1A1A2E"/>
                </a:solidFill>
              </a:rPr>
              <a:t>Z-Score normalization applied before PCA to equalize feature scales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5760720"/>
            <a:ext cx="5577840" cy="54864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5788152"/>
            <a:ext cx="5394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50A2"/>
                </a:solidFill>
              </a:rPr>
              <a:t>Result: 50% dimensionality reduction (4 → 2) with minimal information loss.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869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Merging 2020 U.S. Census demographics for all 77 Chicago community areas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Sama Gannurdinov  |  Data Mining Final Project  |  April 2026</a:t>
            </a:r>
          </a:p>
        </p:txBody>
      </p:sp>
      <p:pic>
        <p:nvPicPr>
          <p:cNvPr id="8" name="Picture 7" descr="crime_rate_by_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6583680" cy="38100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4088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50A2"/>
                </a:solidFill>
              </a:rPr>
              <a:t>Why Integrate?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6002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1"/>
              </a:spcAft>
            </a:pPr>
            <a:r>
              <a:rPr sz="1300" b="0">
                <a:solidFill>
                  <a:srgbClr val="1A1A2E"/>
                </a:solidFill>
              </a:rPr>
              <a:t>•  Raw crime counts favor large-population areas — unfair comparison</a:t>
            </a:r>
          </a:p>
          <a:p>
            <a:pPr>
              <a:spcAft>
                <a:spcPts val="551"/>
              </a:spcAft>
            </a:pPr>
            <a:r>
              <a:rPr sz="1300" b="0">
                <a:solidFill>
                  <a:srgbClr val="1A1A2E"/>
                </a:solidFill>
              </a:rPr>
              <a:t>•  Per-capita rate reveals the true risk exposure for residents</a:t>
            </a:r>
          </a:p>
          <a:p>
            <a:pPr>
              <a:spcAft>
                <a:spcPts val="551"/>
              </a:spcAft>
            </a:pPr>
            <a:r>
              <a:rPr sz="1300" b="0">
                <a:solidFill>
                  <a:srgbClr val="1A1A2E"/>
                </a:solidFill>
              </a:rPr>
              <a:t>•  Enables evidence-based, equity-aware policy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3017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50A2"/>
                </a:solidFill>
              </a:rPr>
              <a:t>Key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52044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44"/>
              </a:spcAft>
            </a:pPr>
            <a:r>
              <a:rPr sz="1300" b="1">
                <a:solidFill>
                  <a:srgbClr val="E84A1E"/>
                </a:solidFill>
              </a:rPr>
              <a:t>•  Fuller Park: </a:t>
            </a:r>
            <a:r>
              <a:rPr sz="1300" b="0">
                <a:solidFill>
                  <a:srgbClr val="1A1A2E"/>
                </a:solidFill>
              </a:rPr>
              <a:t>243 / 1k residents  — highest in the city</a:t>
            </a:r>
          </a:p>
          <a:p>
            <a:pPr>
              <a:spcAft>
                <a:spcPts val="944"/>
              </a:spcAft>
            </a:pPr>
            <a:r>
              <a:rPr sz="1300" b="1">
                <a:solidFill>
                  <a:srgbClr val="E84A1E"/>
                </a:solidFill>
              </a:rPr>
              <a:t>•  Edison Park: </a:t>
            </a:r>
            <a:r>
              <a:rPr sz="1300" b="0">
                <a:solidFill>
                  <a:srgbClr val="1A1A2E"/>
                </a:solidFill>
              </a:rPr>
              <a:t>24 / 1k residents  — lowest in the city</a:t>
            </a:r>
          </a:p>
          <a:p>
            <a:pPr>
              <a:spcAft>
                <a:spcPts val="944"/>
              </a:spcAft>
            </a:pPr>
            <a:r>
              <a:rPr sz="1300" b="1">
                <a:solidFill>
                  <a:srgbClr val="E84A1E"/>
                </a:solidFill>
              </a:rPr>
              <a:t>•  10×  gap: </a:t>
            </a:r>
            <a:r>
              <a:rPr sz="1300" b="0">
                <a:solidFill>
                  <a:srgbClr val="1A1A2E"/>
                </a:solidFill>
              </a:rPr>
              <a:t>between safest and most dangerous areas</a:t>
            </a:r>
          </a:p>
          <a:p>
            <a:pPr>
              <a:spcAft>
                <a:spcPts val="944"/>
              </a:spcAft>
            </a:pPr>
            <a:r>
              <a:rPr sz="1300" b="1">
                <a:solidFill>
                  <a:srgbClr val="E84A1E"/>
                </a:solidFill>
              </a:rPr>
              <a:t>•  The Loop: </a:t>
            </a:r>
            <a:r>
              <a:rPr sz="1300" b="0">
                <a:solidFill>
                  <a:srgbClr val="1A1A2E"/>
                </a:solidFill>
              </a:rPr>
              <a:t>High raw count (9,289) but explained by large transient population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 Integration — Population vs Crime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869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Color shows per-capita crime rate — not all busy areas are high-risk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Sama Gannurdinov  |  Data Mining Final Project  |  April 2026</a:t>
            </a:r>
          </a:p>
        </p:txBody>
      </p:sp>
      <p:pic>
        <p:nvPicPr>
          <p:cNvPr id="8" name="Picture 7" descr="population_vs_cr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772400" cy="56872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21040" y="109728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50A2"/>
                </a:solidFill>
              </a:rPr>
              <a:t>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600200"/>
            <a:ext cx="3611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8"/>
              </a:spcAft>
            </a:pPr>
            <a:r>
              <a:rPr sz="1300" b="0">
                <a:solidFill>
                  <a:srgbClr val="1A1A2E"/>
                </a:solidFill>
              </a:rPr>
              <a:t>•  Large population does not equal high crime rate</a:t>
            </a:r>
          </a:p>
          <a:p>
            <a:pPr>
              <a:spcAft>
                <a:spcPts val="708"/>
              </a:spcAft>
            </a:pPr>
            <a:r>
              <a:rPr sz="1300" b="0">
                <a:solidFill>
                  <a:srgbClr val="1A1A2E"/>
                </a:solidFill>
              </a:rPr>
              <a:t>•  West Garfield Park &amp; Englewood: small population, extreme per-capita rates</a:t>
            </a:r>
          </a:p>
          <a:p>
            <a:pPr>
              <a:spcAft>
                <a:spcPts val="708"/>
              </a:spcAft>
            </a:pPr>
            <a:r>
              <a:rPr sz="1300" b="0">
                <a:solidFill>
                  <a:srgbClr val="1A1A2E"/>
                </a:solidFill>
              </a:rPr>
              <a:t>•  Austin: largest population (100k) but mid-tier crime rate</a:t>
            </a:r>
          </a:p>
          <a:p>
            <a:pPr>
              <a:spcAft>
                <a:spcPts val="708"/>
              </a:spcAft>
            </a:pPr>
            <a:r>
              <a:rPr sz="1300" b="0">
                <a:solidFill>
                  <a:srgbClr val="1A1A2E"/>
                </a:solidFill>
              </a:rPr>
              <a:t>•  Integration reveals inequality invisible in raw counts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1: Cluster Analysis — Elbow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869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Empirically validating K=10 instead of choosing it arbitrarily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Sama Gannurdinov  |  Data Mining Final Project  |  April 2026</a:t>
            </a:r>
          </a:p>
        </p:txBody>
      </p:sp>
      <p:pic>
        <p:nvPicPr>
          <p:cNvPr id="8" name="Picture 7" descr="elbow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406640" cy="40697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09560" y="10972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50A2"/>
                </a:solidFill>
              </a:rPr>
              <a:t>What is the Elbow Method?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600200"/>
            <a:ext cx="4023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9"/>
              </a:spcAft>
            </a:pPr>
            <a:r>
              <a:rPr sz="1300" b="0">
                <a:solidFill>
                  <a:srgbClr val="1A1A2E"/>
                </a:solidFill>
              </a:rPr>
              <a:t>•  Plot inertia (WCSS) for K = 2 to 15</a:t>
            </a:r>
          </a:p>
          <a:p>
            <a:pPr>
              <a:spcAft>
                <a:spcPts val="629"/>
              </a:spcAft>
            </a:pPr>
            <a:r>
              <a:rPr sz="1300" b="0">
                <a:solidFill>
                  <a:srgbClr val="1A1A2E"/>
                </a:solidFill>
              </a:rPr>
              <a:t>•  Find the 'elbow' where adding more clusters gives diminishing returns</a:t>
            </a:r>
          </a:p>
          <a:p>
            <a:pPr>
              <a:spcAft>
                <a:spcPts val="629"/>
              </a:spcAft>
            </a:pPr>
            <a:r>
              <a:rPr sz="1300" b="0">
                <a:solidFill>
                  <a:srgbClr val="1A1A2E"/>
                </a:solidFill>
              </a:rPr>
              <a:t>•  Inflection occurs near K = 9–10</a:t>
            </a:r>
          </a:p>
          <a:p>
            <a:pPr>
              <a:spcAft>
                <a:spcPts val="629"/>
              </a:spcAft>
            </a:pPr>
            <a:r>
              <a:rPr sz="1300" b="0">
                <a:solidFill>
                  <a:srgbClr val="1A1A2E"/>
                </a:solidFill>
              </a:rPr>
              <a:t>•  K = 10 selected as optimal balance between granularity and 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42519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50A2"/>
                </a:solidFill>
              </a:rPr>
              <a:t>Improvement vs Midterm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4736592"/>
            <a:ext cx="4023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44"/>
              </a:spcAft>
            </a:pPr>
            <a:r>
              <a:rPr sz="1200" b="1">
                <a:solidFill>
                  <a:srgbClr val="E84A1E"/>
                </a:solidFill>
              </a:rPr>
              <a:t>•  Midterm: </a:t>
            </a:r>
            <a:r>
              <a:rPr sz="1200" b="0">
                <a:solidFill>
                  <a:srgbClr val="1A1A2E"/>
                </a:solidFill>
              </a:rPr>
              <a:t>K=10 chosen with no justification</a:t>
            </a:r>
          </a:p>
          <a:p>
            <a:pPr>
              <a:spcAft>
                <a:spcPts val="944"/>
              </a:spcAft>
            </a:pPr>
            <a:r>
              <a:rPr sz="1200" b="1">
                <a:solidFill>
                  <a:srgbClr val="E84A1E"/>
                </a:solidFill>
              </a:rPr>
              <a:t>•  Final: </a:t>
            </a:r>
            <a:r>
              <a:rPr sz="1200" b="0">
                <a:solidFill>
                  <a:srgbClr val="1A1A2E"/>
                </a:solidFill>
              </a:rPr>
              <a:t>K=10 validated by Elbow Method inertia analysis</a:t>
            </a:r>
          </a:p>
          <a:p>
            <a:pPr>
              <a:spcAft>
                <a:spcPts val="944"/>
              </a:spcAft>
            </a:pPr>
            <a:r>
              <a:rPr sz="1200" b="1">
                <a:solidFill>
                  <a:srgbClr val="E84A1E"/>
                </a:solidFill>
              </a:rPr>
              <a:t>•  Features: </a:t>
            </a:r>
            <a:r>
              <a:rPr sz="1200" b="0">
                <a:solidFill>
                  <a:srgbClr val="1A1A2E"/>
                </a:solidFill>
              </a:rPr>
              <a:t>Added Hour &amp; Is_Outdoor so clusters reflect WHEN and WHERE crimes happen — not just coordinates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1: Crime Hotspot Clusters (K=10)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869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Enhanced K-Means — Location + Time-of-Day + Indoor/Outdoor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Sama Gannurdinov  |  Data Mining Final Project  |  April 2026</a:t>
            </a:r>
          </a:p>
        </p:txBody>
      </p:sp>
      <p:pic>
        <p:nvPicPr>
          <p:cNvPr id="8" name="Picture 7" descr="crime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24128"/>
            <a:ext cx="4663440" cy="6066238"/>
          </a:xfrm>
          <a:prstGeom prst="rect">
            <a:avLst/>
          </a:prstGeom>
        </p:spPr>
      </p:pic>
      <p:pic>
        <p:nvPicPr>
          <p:cNvPr id="9" name="Picture 8" descr="cluster_pro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24128"/>
            <a:ext cx="6903720" cy="27293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62636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4A1E"/>
                </a:solidFill>
              </a:rPr>
              <a:t>Outdoor evening clusters (3, 8) have the highest arrest rates: 19–21%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2: Random Forest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869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Predicting whether a crime incident will lead to an arrest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Sama Gannurdinov  |  Data Mining Final Project  | 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972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50A2"/>
                </a:solidFill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36192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Given the characteristics of a reported crime — type, location, time, district — can we predict whether it will result in an ARREST?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146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50A2"/>
                </a:solidFill>
              </a:rPr>
              <a:t>Why Random Forest?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944368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1"/>
              </a:spcAft>
            </a:pPr>
            <a:r>
              <a:rPr sz="1300" b="0">
                <a:solidFill>
                  <a:srgbClr val="1A1A2E"/>
                </a:solidFill>
              </a:rPr>
              <a:t>•  Handles mixed features natively (numeric, binary, categorical)</a:t>
            </a:r>
          </a:p>
          <a:p>
            <a:pPr>
              <a:spcAft>
                <a:spcPts val="551"/>
              </a:spcAft>
            </a:pPr>
            <a:r>
              <a:rPr sz="1300" b="0">
                <a:solidFill>
                  <a:srgbClr val="1A1A2E"/>
                </a:solidFill>
              </a:rPr>
              <a:t>•  class_weight='balanced' compensates for 6:1 class imbalance</a:t>
            </a:r>
          </a:p>
          <a:p>
            <a:pPr>
              <a:spcAft>
                <a:spcPts val="551"/>
              </a:spcAft>
            </a:pPr>
            <a:r>
              <a:rPr sz="1300" b="0">
                <a:solidFill>
                  <a:srgbClr val="1A1A2E"/>
                </a:solidFill>
              </a:rPr>
              <a:t>•  Feature importance scores reveal what drives arrest outcomes</a:t>
            </a:r>
          </a:p>
          <a:p>
            <a:pPr>
              <a:spcAft>
                <a:spcPts val="551"/>
              </a:spcAft>
            </a:pPr>
            <a:r>
              <a:rPr sz="1300" b="0">
                <a:solidFill>
                  <a:srgbClr val="1A1A2E"/>
                </a:solidFill>
              </a:rPr>
              <a:t>•  More robust than a single Decision Tree — reduces overfitting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09728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50A2"/>
                </a:solidFill>
              </a:rPr>
              <a:t>Configuration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72768"/>
            <a:ext cx="2560320" cy="5943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0" y="1572768"/>
            <a:ext cx="3246120" cy="5943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600200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50A2"/>
                </a:solidFill>
              </a:rPr>
              <a:t>n_estimators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1600200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100 trees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212848"/>
            <a:ext cx="2560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2212848"/>
            <a:ext cx="3246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2240280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50A2"/>
                </a:solidFill>
              </a:rPr>
              <a:t>max_depth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2240280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852928"/>
            <a:ext cx="2560320" cy="5943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78240" y="2852928"/>
            <a:ext cx="3246120" cy="5943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2880360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50A2"/>
                </a:solidFill>
              </a:rPr>
              <a:t>class_weight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2880360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'balanced'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493007"/>
            <a:ext cx="2560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0" y="3493007"/>
            <a:ext cx="3246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520439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50A2"/>
                </a:solidFill>
              </a:rPr>
              <a:t>Train /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3520439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80% / 20%  (stratified)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133087"/>
            <a:ext cx="2560320" cy="5943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78240" y="4133087"/>
            <a:ext cx="3246120" cy="5943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4160520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50A2"/>
                </a:solidFill>
              </a:rPr>
              <a:t>Target variable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4160520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Arrest  (0 = no arrest, 1 = arrested)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773168"/>
            <a:ext cx="2560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78240" y="4773168"/>
            <a:ext cx="3246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4800600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50A2"/>
                </a:solidFill>
              </a:rPr>
              <a:t>Features used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8" y="4800600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12  (hour, month, day, district, ward, beat, domestic, outdoor, time bin, community area, crime type, city sector)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589788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Class imbalance: 85.8% No Arrest  vs  14.2% Arrest  — balanced weighting is essential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2: Classification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869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Random Forest — Accuracy 84.3%  |  ROC-AUC 0.8154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Sama Gannurdinov  |  Data Mining Final Project  |  April 2026</a:t>
            </a:r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24128"/>
            <a:ext cx="5486400" cy="40025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89320" y="10972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50A2"/>
                </a:solidFill>
              </a:rPr>
              <a:t>Performance Metrics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600200"/>
            <a:ext cx="5943600" cy="603504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6184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50A2"/>
                </a:solidFill>
              </a:rPr>
              <a:t>Overall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6184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4A1E"/>
                </a:solidFill>
              </a:rPr>
              <a:t>84.29%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901952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43,434 of 51,510 correct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2258568"/>
            <a:ext cx="594360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27685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50A2"/>
                </a:solidFill>
              </a:rPr>
              <a:t>ROC-AUC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2768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4A1E"/>
                </a:solidFill>
              </a:rPr>
              <a:t>0.8154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56032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Strong discrimination power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916936"/>
            <a:ext cx="5943600" cy="603504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293522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50A2"/>
                </a:solidFill>
              </a:rPr>
              <a:t>No Arrest 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93522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4A1E"/>
                </a:solidFill>
              </a:rPr>
              <a:t>0.92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218688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92% of predicted no-arrests are correct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3575304"/>
            <a:ext cx="594360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5935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50A2"/>
                </a:solidFill>
              </a:rPr>
              <a:t>Arrest Recall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5935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4A1E"/>
                </a:solidFill>
              </a:rPr>
              <a:t>0.55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877056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55% of actual arrests caught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4233672"/>
            <a:ext cx="5943600" cy="603504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4251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50A2"/>
                </a:solidFill>
              </a:rPr>
              <a:t>Arrest F1-Score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251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4A1E"/>
                </a:solidFill>
              </a:rPr>
              <a:t>0.49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535424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Balanced precision-recall tradeoff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4983480"/>
            <a:ext cx="5943600" cy="6858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5020056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An ROC-AUC of 0.8154 means the model is dramatically better than a random baseline (0.5) at separating arrest from non-arrest cases.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2: What Drives Arrest Outcomes?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869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Feature Importance &amp; ROC Curve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Sama Gannurdinov  |  Data Mining Final Project  |  April 2026</a:t>
            </a:r>
          </a:p>
        </p:txBody>
      </p:sp>
      <p:pic>
        <p:nvPicPr>
          <p:cNvPr id="8" name="Picture 7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24128"/>
            <a:ext cx="6949440" cy="4606932"/>
          </a:xfrm>
          <a:prstGeom prst="rect">
            <a:avLst/>
          </a:prstGeom>
        </p:spPr>
      </p:pic>
      <p:pic>
        <p:nvPicPr>
          <p:cNvPr id="9" name="Picture 8" descr="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024128"/>
            <a:ext cx="4572000" cy="39043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62362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4A1E"/>
                </a:solidFill>
              </a:rPr>
              <a:t>Crime type is the #1 predictor — what you do determines whether you get arrested, more than where or when.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Findings &amp;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869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Data-driven discoveries across all three analyses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Sama Gannurdinov  |  Data Mining Final Project  | 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3858768" cy="530352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3858768" cy="41148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1064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Geographic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572768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9"/>
              </a:spcAft>
            </a:pPr>
            <a:r>
              <a:rPr sz="1300" b="0">
                <a:solidFill>
                  <a:srgbClr val="1A1A2E"/>
                </a:solidFill>
              </a:rPr>
              <a:t>•  Fuller Park: 243 crimes/1k residents — 10× more than Edison Park (24/1k)</a:t>
            </a:r>
          </a:p>
          <a:p>
            <a:pPr>
              <a:spcAft>
                <a:spcPts val="629"/>
              </a:spcAft>
            </a:pPr>
            <a:r>
              <a:rPr sz="1300" b="0">
                <a:solidFill>
                  <a:srgbClr val="1A1A2E"/>
                </a:solidFill>
              </a:rPr>
              <a:t>•  10 K-Means clusters reveal distinct hotspot zones across the city</a:t>
            </a:r>
          </a:p>
          <a:p>
            <a:pPr>
              <a:spcAft>
                <a:spcPts val="629"/>
              </a:spcAft>
            </a:pPr>
            <a:r>
              <a:rPr sz="1300" b="0">
                <a:solidFill>
                  <a:srgbClr val="1A1A2E"/>
                </a:solidFill>
              </a:rPr>
              <a:t>•  Central/West sector has the highest raw crime count (94,060 incidents, 36.5%)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1104" y="1078992"/>
            <a:ext cx="3858768" cy="530352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1104" y="1078992"/>
            <a:ext cx="3858768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8264" y="11064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Temporal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572768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9"/>
              </a:spcAft>
            </a:pPr>
            <a:r>
              <a:rPr sz="1300" b="0">
                <a:solidFill>
                  <a:srgbClr val="1A1A2E"/>
                </a:solidFill>
              </a:rPr>
              <a:t>•  Afternoon (31.2%) + Evening (28.5%) = nearly 60% of all incidents</a:t>
            </a:r>
          </a:p>
          <a:p>
            <a:pPr>
              <a:spcAft>
                <a:spcPts val="629"/>
              </a:spcAft>
            </a:pPr>
            <a:r>
              <a:rPr sz="1300" b="0">
                <a:solidFill>
                  <a:srgbClr val="1A1A2E"/>
                </a:solidFill>
              </a:rPr>
              <a:t>•  Evening outdoor clusters have the highest arrest rates (~20%)</a:t>
            </a:r>
          </a:p>
          <a:p>
            <a:pPr>
              <a:spcAft>
                <a:spcPts val="629"/>
              </a:spcAft>
            </a:pPr>
            <a:r>
              <a:rPr sz="1300" b="0">
                <a:solidFill>
                  <a:srgbClr val="1A1A2E"/>
                </a:solidFill>
              </a:rPr>
              <a:t>•  Late-night indoor crimes (2 AM avg) have the lowest arrest rates (10-11%)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1078992"/>
            <a:ext cx="3858768" cy="530352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1078992"/>
            <a:ext cx="3858768" cy="411480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1064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Predictive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572768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9"/>
              </a:spcAft>
            </a:pPr>
            <a:r>
              <a:rPr sz="1300" b="0">
                <a:solidFill>
                  <a:srgbClr val="1A1A2E"/>
                </a:solidFill>
              </a:rPr>
              <a:t>•  Crime type is the #1 predictor of arrest — stronger than location or time</a:t>
            </a:r>
          </a:p>
          <a:p>
            <a:pPr>
              <a:spcAft>
                <a:spcPts val="629"/>
              </a:spcAft>
            </a:pPr>
            <a:r>
              <a:rPr sz="1300" b="0">
                <a:solidFill>
                  <a:srgbClr val="1A1A2E"/>
                </a:solidFill>
              </a:rPr>
              <a:t>•  Community Area &amp; Beat are 2nd and 3rd — local enforcement capacity matters</a:t>
            </a:r>
          </a:p>
          <a:p>
            <a:pPr>
              <a:spcAft>
                <a:spcPts val="629"/>
              </a:spcAft>
            </a:pPr>
            <a:r>
              <a:rPr sz="1300" b="0">
                <a:solidFill>
                  <a:srgbClr val="1A1A2E"/>
                </a:solidFill>
              </a:rPr>
              <a:t>•  84.3% accuracy and AUC=0.8154 with no external data beyond the crime record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869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Honest assessment and actionable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Sama Gannurdinov  |  Data Mining Final Project  | 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97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4A1E"/>
                </a:solidFill>
              </a:rP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72768"/>
            <a:ext cx="5669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8"/>
              </a:spcAft>
            </a:pPr>
            <a:r>
              <a:rPr sz="1200" b="1">
                <a:solidFill>
                  <a:srgbClr val="E84A1E"/>
                </a:solidFill>
              </a:rPr>
              <a:t>•  Class imbalance: </a:t>
            </a:r>
            <a:r>
              <a:rPr sz="1200" b="0">
                <a:solidFill>
                  <a:srgbClr val="1A1A2E"/>
                </a:solidFill>
              </a:rPr>
              <a:t>Only 13.85% arrests → recall = 0.55 even with balanced weights. SMOTE or cost-sensitive learning could improve minority-class detection.</a:t>
            </a:r>
          </a:p>
          <a:p>
            <a:pPr>
              <a:spcAft>
                <a:spcPts val="708"/>
              </a:spcAft>
            </a:pPr>
            <a:r>
              <a:rPr sz="1200" b="1">
                <a:solidFill>
                  <a:srgbClr val="E84A1E"/>
                </a:solidFill>
              </a:rPr>
              <a:t>•  Population proxy: </a:t>
            </a:r>
            <a:r>
              <a:rPr sz="1200" b="0">
                <a:solidFill>
                  <a:srgbClr val="1A1A2E"/>
                </a:solidFill>
              </a:rPr>
              <a:t>Residential Census data underestimates exposure in commercial areas like the Loop (large daytime population not captured).</a:t>
            </a:r>
          </a:p>
          <a:p>
            <a:pPr>
              <a:spcAft>
                <a:spcPts val="708"/>
              </a:spcAft>
            </a:pPr>
            <a:r>
              <a:rPr sz="1200" b="1">
                <a:solidFill>
                  <a:srgbClr val="E84A1E"/>
                </a:solidFill>
              </a:rPr>
              <a:t>•  Single year: </a:t>
            </a:r>
            <a:r>
              <a:rPr sz="1200" b="0">
                <a:solidFill>
                  <a:srgbClr val="1A1A2E"/>
                </a:solidFill>
              </a:rPr>
              <a:t>2024 data only — multi-year analysis needed to detect trends and pre/post-COVID shifts.</a:t>
            </a:r>
          </a:p>
          <a:p>
            <a:pPr>
              <a:spcAft>
                <a:spcPts val="708"/>
              </a:spcAft>
            </a:pPr>
            <a:r>
              <a:rPr sz="1200" b="1">
                <a:solidFill>
                  <a:srgbClr val="E84A1E"/>
                </a:solidFill>
              </a:rPr>
              <a:t>•  K-Means geometry: </a:t>
            </a:r>
            <a:r>
              <a:rPr sz="1200" b="0">
                <a:solidFill>
                  <a:srgbClr val="1A1A2E"/>
                </a:solidFill>
              </a:rPr>
              <a:t>Assumes spherical clusters — may not fit Chicago's elongated north-south geography well.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097280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50A2"/>
                </a:solidFill>
              </a:rPr>
              <a:t>Future Improvements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72768"/>
            <a:ext cx="5623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8"/>
              </a:spcAft>
            </a:pPr>
            <a:r>
              <a:rPr sz="1200" b="1">
                <a:solidFill>
                  <a:srgbClr val="1E50A2"/>
                </a:solidFill>
              </a:rPr>
              <a:t>•  Frequent Pattern Mining: </a:t>
            </a:r>
            <a:r>
              <a:rPr sz="1200" b="0">
                <a:solidFill>
                  <a:srgbClr val="1A1A2E"/>
                </a:solidFill>
              </a:rPr>
              <a:t>Apply Apriori to find association rules: e.g., 'Theft + Street + Afternoon' co-occur 3× more than expected.</a:t>
            </a:r>
          </a:p>
          <a:p>
            <a:pPr>
              <a:spcAft>
                <a:spcPts val="708"/>
              </a:spcAft>
            </a:pPr>
            <a:r>
              <a:rPr sz="1200" b="1">
                <a:solidFill>
                  <a:srgbClr val="1E50A2"/>
                </a:solidFill>
              </a:rPr>
              <a:t>•  DBSCAN clustering: </a:t>
            </a:r>
            <a:r>
              <a:rPr sz="1200" b="0">
                <a:solidFill>
                  <a:srgbClr val="1A1A2E"/>
                </a:solidFill>
              </a:rPr>
              <a:t>Discovers arbitrary-shape clusters and noise points — better suited to Chicago's irregular geography.</a:t>
            </a:r>
          </a:p>
          <a:p>
            <a:pPr>
              <a:spcAft>
                <a:spcPts val="708"/>
              </a:spcAft>
            </a:pPr>
            <a:r>
              <a:rPr sz="1200" b="1">
                <a:solidFill>
                  <a:srgbClr val="1E50A2"/>
                </a:solidFill>
              </a:rPr>
              <a:t>•  Weather integration: </a:t>
            </a:r>
            <a:r>
              <a:rPr sz="1200" b="0">
                <a:solidFill>
                  <a:srgbClr val="1A1A2E"/>
                </a:solidFill>
              </a:rPr>
              <a:t>Merge NOAA daily temperature data to test the warm-weather crime hypothesis.</a:t>
            </a:r>
          </a:p>
          <a:p>
            <a:pPr>
              <a:spcAft>
                <a:spcPts val="708"/>
              </a:spcAft>
            </a:pPr>
            <a:r>
              <a:rPr sz="1200" b="1">
                <a:solidFill>
                  <a:srgbClr val="1E50A2"/>
                </a:solidFill>
              </a:rPr>
              <a:t>•  Live prediction dashboard: </a:t>
            </a:r>
            <a:r>
              <a:rPr sz="1200" b="0">
                <a:solidFill>
                  <a:srgbClr val="1A1A2E"/>
                </a:solidFill>
              </a:rPr>
              <a:t>Extend the D3.js dashboard with real-time arrest probability scores from the trained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88952" cy="2651760"/>
          </a:xfrm>
          <a:prstGeom prst="rect">
            <a:avLst/>
          </a:prstGeom>
          <a:solidFill>
            <a:srgbClr val="14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78808"/>
            <a:ext cx="12188952" cy="54864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520440" cy="1280160"/>
          </a:xfrm>
          <a:prstGeom prst="rect">
            <a:avLst/>
          </a:prstGeom>
          <a:solidFill>
            <a:srgbClr val="1A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4A1E"/>
                </a:solidFill>
              </a:rPr>
              <a:t>99.4%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47088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4F7"/>
                </a:solidFill>
              </a:rPr>
              <a:t>records retained
after cleaning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7952" y="1188720"/>
            <a:ext cx="3520440" cy="1280160"/>
          </a:xfrm>
          <a:prstGeom prst="rect">
            <a:avLst/>
          </a:prstGeom>
          <a:solidFill>
            <a:srgbClr val="1A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9392" y="1261872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4A1E"/>
                </a:solidFill>
              </a:rPr>
              <a:t>84.21%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9392" y="1847088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4F7"/>
                </a:solidFill>
              </a:rPr>
              <a:t>variance captured
by 2 PCA components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0144" y="1188720"/>
            <a:ext cx="3520440" cy="1280160"/>
          </a:xfrm>
          <a:prstGeom prst="rect">
            <a:avLst/>
          </a:prstGeom>
          <a:solidFill>
            <a:srgbClr val="1A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1583" y="1261872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4A1E"/>
                </a:solidFill>
              </a:rPr>
              <a:t>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1847088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4F7"/>
                </a:solidFill>
              </a:rPr>
              <a:t>community areas
integrated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51760"/>
            <a:ext cx="3520440" cy="1280160"/>
          </a:xfrm>
          <a:prstGeom prst="rect">
            <a:avLst/>
          </a:prstGeom>
          <a:solidFill>
            <a:srgbClr val="1A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24912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4A1E"/>
                </a:solidFill>
              </a:rPr>
              <a:t>K=10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10128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4F7"/>
                </a:solidFill>
              </a:rPr>
              <a:t>clusters validated
by Elbow Method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87952" y="2651760"/>
            <a:ext cx="3520440" cy="1280160"/>
          </a:xfrm>
          <a:prstGeom prst="rect">
            <a:avLst/>
          </a:prstGeom>
          <a:solidFill>
            <a:srgbClr val="1A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9392" y="2724912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4A1E"/>
                </a:solidFill>
              </a:rPr>
              <a:t>84.3%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3310128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4F7"/>
                </a:solidFill>
              </a:rPr>
              <a:t>classification
accuracy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0144" y="2651760"/>
            <a:ext cx="3520440" cy="1280160"/>
          </a:xfrm>
          <a:prstGeom prst="rect">
            <a:avLst/>
          </a:prstGeom>
          <a:solidFill>
            <a:srgbClr val="1A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1583" y="2724912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4A1E"/>
                </a:solidFill>
              </a:rPr>
              <a:t>0.8154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3310128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4F7"/>
                </a:solidFill>
              </a:rPr>
              <a:t>ROC-AUC score
(arrest prediction)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159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github.com/samagannurdinov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28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4F7"/>
                </a:solidFill>
              </a:rPr>
              <a:t>Data Mining  ·  April 2026  ·  Sama Gannurdinov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94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6199632"/>
            <a:ext cx="3959352" cy="45720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